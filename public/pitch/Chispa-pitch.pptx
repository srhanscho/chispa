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746b3533ae412a" /><Relationship Type="http://schemas.openxmlformats.org/officeDocument/2006/relationships/extended-properties" Target="/docProps/app.xml" Id="Rc6b73cab6fcb40e8" /><Relationship Type="http://schemas.openxmlformats.org/officeDocument/2006/relationships/officeDocument" Target="/ppt/presentation.xml" Id="Rab48f23767b14d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abf87030414704"/>
  </p:sldMasterIdLst>
  <p:notesMasterIdLst>
    <p:notesMasterId xmlns:r="http://schemas.openxmlformats.org/officeDocument/2006/relationships" r:id="Raae8af6322fc4c37"/>
  </p:notesMasterIdLst>
  <p:sldIdLst>
    <p:sldId xmlns:r="http://schemas.openxmlformats.org/officeDocument/2006/relationships" id="256" r:id="Rdbc7332b20404721"/>
    <p:sldId xmlns:r="http://schemas.openxmlformats.org/officeDocument/2006/relationships" id="257" r:id="Rb739f7aab7214fe7"/>
    <p:sldId xmlns:r="http://schemas.openxmlformats.org/officeDocument/2006/relationships" id="258" r:id="R5385e6c11fc1499a"/>
    <p:sldId xmlns:r="http://schemas.openxmlformats.org/officeDocument/2006/relationships" id="259" r:id="R274a175ee3e44523"/>
    <p:sldId xmlns:r="http://schemas.openxmlformats.org/officeDocument/2006/relationships" id="260" r:id="Rc4ba7148cd9d46f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f933016f5f4115" /><Relationship Type="http://schemas.openxmlformats.org/officeDocument/2006/relationships/slideMaster" Target="/ppt/slideMasters/slideMaster1.xml" Id="R7eabf87030414704" /><Relationship Type="http://schemas.openxmlformats.org/officeDocument/2006/relationships/notesMaster" Target="/ppt/notesMasters/notesMaster1.xml" Id="Raae8af6322fc4c37" /><Relationship Type="http://schemas.openxmlformats.org/officeDocument/2006/relationships/presProps" Target="/ppt/presProps.xml" Id="R330e2f6af05546f4" /><Relationship Type="http://schemas.openxmlformats.org/officeDocument/2006/relationships/tableStyles" Target="/ppt/tableStyles.xml" Id="Rbaab488d73684151" /><Relationship Type="http://schemas.openxmlformats.org/officeDocument/2006/relationships/slide" Target="/ppt/slides/slide1.xml" Id="Rdbc7332b20404721" /><Relationship Type="http://schemas.openxmlformats.org/officeDocument/2006/relationships/slide" Target="/ppt/slides/slide2.xml" Id="Rb739f7aab7214fe7" /><Relationship Type="http://schemas.openxmlformats.org/officeDocument/2006/relationships/slide" Target="/ppt/slides/slide3.xml" Id="R5385e6c11fc1499a" /><Relationship Type="http://schemas.openxmlformats.org/officeDocument/2006/relationships/slide" Target="/ppt/slides/slide4.xml" Id="R274a175ee3e44523" /><Relationship Type="http://schemas.openxmlformats.org/officeDocument/2006/relationships/slide" Target="/ppt/slides/slide5.xml" Id="Rc4ba7148cd9d46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adb5e9ee7c4c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07af91fec049ec" /><Relationship Type="http://schemas.openxmlformats.org/officeDocument/2006/relationships/notesMaster" Target="/ppt/notesMasters/notesMaster1.xml" Id="R72652360bbb94a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062951314d4af9" /><Relationship Type="http://schemas.openxmlformats.org/officeDocument/2006/relationships/notesMaster" Target="/ppt/notesMasters/notesMaster1.xml" Id="Rb90a28c321b74c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fcaaf5cab74b5d" /><Relationship Type="http://schemas.openxmlformats.org/officeDocument/2006/relationships/notesMaster" Target="/ppt/notesMasters/notesMaster1.xml" Id="R9c81892633bd40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3a0f0afbd5497d" /><Relationship Type="http://schemas.openxmlformats.org/officeDocument/2006/relationships/notesMaster" Target="/ppt/notesMasters/notesMaster1.xml" Id="R62fd7c83e79747f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17422df00745af" /><Relationship Type="http://schemas.openxmlformats.org/officeDocument/2006/relationships/notesMaster" Target="/ppt/notesMasters/notesMaster1.xml" Id="Rd85c691b4f994c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0:00–0:25. Presenta a Lulo. Una explicación puede no conectar. El proyecto usa señales del recorrido para elegir otra forma de enseñar.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0:25–0:55. Abre Para quienes acompañan y la comparación. Fuente: lib/profile.ts y clases precargadas del repositorio.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0:55–1:40. Haz la demo de una tarjeta, una pregunta al chat y una respuesta. La IA en vivo requiere credenciales en el servidor. Fuentes: docs/API.md y lib/tutor-schema.ts.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1:40–2:25. Explica que el motor calcula las señales y Gemma genera contenido. Los valores del gráfico son perfiles demo precargados, no una evaluación de personas reales. Fuente: lib/profile.ts y lib/engine.ts.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2:25–3:00. Visión del proyecto: Gemma enseña, evalúa y aprende de cada niño. La adaptación actual combina el motor numérico con el modelo. Un despliegue propio depende del modelo, su licencia y el hardware. Ensayo con el compañero pendiente.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83062438574d5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0ca2b5f11046e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869350bdb9431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40c08414b0488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f5f397635d4c9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1e0472ee894d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765A80-5F71-4929-B3ED-364A4845C1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0979F5F-4F45-45FC-9347-9A37C6B27EA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53E42F4-6D5D-4868-98A9-D17D2CDF17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88198E-7E16-4E6F-BCA3-CA27D555A2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ABC0196-E166-447A-80A3-3FA32DD98D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5D3083F-3F0F-4F6F-BEE3-D153F008E6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5B0249B-00CD-477B-BD33-8028468BC2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1382086-0064-496B-8A3E-54046F9E39F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FBD52F4-FD3B-42D6-8A03-DB590F48F0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43C34E5-6634-4A49-87C0-A0D2806BCF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d5f6cada394373" /><Relationship Type="http://schemas.openxmlformats.org/officeDocument/2006/relationships/slideLayout" Target="/ppt/slideLayouts/slideLayout1.xml" Id="R6178127d78c0473b" /><Relationship Type="http://schemas.openxmlformats.org/officeDocument/2006/relationships/slideLayout" Target="/ppt/slideLayouts/slideLayout2.xml" Id="Refe4262412d141cf" /><Relationship Type="http://schemas.openxmlformats.org/officeDocument/2006/relationships/slideLayout" Target="/ppt/slideLayouts/slideLayout3.xml" Id="R6689f5811f454212" /><Relationship Type="http://schemas.openxmlformats.org/officeDocument/2006/relationships/slideLayout" Target="/ppt/slideLayouts/slideLayout4.xml" Id="R6d616e5586dd4ff8" /><Relationship Type="http://schemas.openxmlformats.org/officeDocument/2006/relationships/slideLayout" Target="/ppt/slideLayouts/slideLayout5.xml" Id="R8a690254c42346af" /><Relationship Type="http://schemas.openxmlformats.org/officeDocument/2006/relationships/slideLayout" Target="/ppt/slideLayouts/slideLayout6.xml" Id="R123f5f1306e64b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78127d78c0473b"/>
    <p:sldLayoutId xmlns:r="http://schemas.openxmlformats.org/officeDocument/2006/relationships" id="2147483650" r:id="Refe4262412d141cf"/>
    <p:sldLayoutId xmlns:r="http://schemas.openxmlformats.org/officeDocument/2006/relationships" id="2147483651" r:id="R6689f5811f454212"/>
    <p:sldLayoutId xmlns:r="http://schemas.openxmlformats.org/officeDocument/2006/relationships" id="2147483652" r:id="R6d616e5586dd4ff8"/>
    <p:sldLayoutId xmlns:r="http://schemas.openxmlformats.org/officeDocument/2006/relationships" id="2147483653" r:id="R8a690254c42346af"/>
    <p:sldLayoutId xmlns:r="http://schemas.openxmlformats.org/officeDocument/2006/relationships" id="2147483654" r:id="R123f5f1306e64b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34c5e316b64fcf" /><Relationship Type="http://schemas.openxmlformats.org/officeDocument/2006/relationships/image" Target="/ppt/media/image.png" Id="R3f305d86f89b4d06" /><Relationship Type="http://schemas.openxmlformats.org/officeDocument/2006/relationships/notesSlide" Target="/ppt/notesSlides/notesSlide1.xml" Id="Rfe2d23fe8ae044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495488a9f9453e" /><Relationship Type="http://schemas.openxmlformats.org/officeDocument/2006/relationships/notesSlide" Target="/ppt/notesSlides/notesSlide2.xml" Id="R3fbefda6604144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f7ba70f1c54bb0" /><Relationship Type="http://schemas.openxmlformats.org/officeDocument/2006/relationships/notesSlide" Target="/ppt/notesSlides/notesSlide3.xml" Id="Rc24fc5ecfb5e4c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27fc73b9fd4274" /><Relationship Type="http://schemas.openxmlformats.org/officeDocument/2006/relationships/chart" Target="/ppt/slides/charts/chart1.xml" Id="R9d4e0151e94742b9" /><Relationship Type="http://schemas.openxmlformats.org/officeDocument/2006/relationships/notesSlide" Target="/ppt/notesSlides/notesSlide4.xml" Id="R9a2c02786c524ff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ae67ec0fda4b46" /><Relationship Type="http://schemas.openxmlformats.org/officeDocument/2006/relationships/notesSlide" Target="/ppt/notesSlides/notesSlide5.xml" Id="R40f3c5bf0e4741d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Sofía · demo</c:v>
          </c:tx>
          <c:spPr>
            <a:solidFill xmlns:a="http://schemas.openxmlformats.org/drawingml/2006/main">
              <a:srgbClr val="3FA34D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Historias</c:v>
                </c:pt>
                <c:pt idx="1">
                  <c:v>Visual</c:v>
                </c:pt>
                <c:pt idx="2">
                  <c:v>Analogías</c:v>
                </c:pt>
                <c:pt idx="3">
                  <c:v>Paso a paso</c:v>
                </c:pt>
                <c:pt idx="4">
                  <c:v>Juego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82</c:v>
                </c:pt>
                <c:pt idx="1">
                  <c:v>45</c:v>
                </c:pt>
                <c:pt idx="2">
                  <c:v>55</c:v>
                </c:pt>
                <c:pt idx="3">
                  <c:v>40</c:v>
                </c:pt>
                <c:pt idx="4">
                  <c:v>60</c:v>
                </c:pt>
              </c:numCache>
            </c:numRef>
          </c:val>
        </c:ser>
        <c:ser>
          <c:idx val="1"/>
          <c:order val="1"/>
          <c:tx>
            <c:v>Mateo · demo</c:v>
          </c:tx>
          <c:spPr>
            <a:solidFill xmlns:a="http://schemas.openxmlformats.org/drawingml/2006/main">
              <a:srgbClr val="14A3B8"/>
            </a:solidFill>
          </c:spPr>
          <c:invertIfNegative val="0"/>
          <c:cat>
            <c:strRef>
              <c:f>'Chart Data'!$C$2:$C$6</c:f>
              <c:strCache>
                <c:ptCount val="5"/>
                <c:pt idx="0">
                  <c:v>Historias</c:v>
                </c:pt>
                <c:pt idx="1">
                  <c:v>Visual</c:v>
                </c:pt>
                <c:pt idx="2">
                  <c:v>Analogías</c:v>
                </c:pt>
                <c:pt idx="3">
                  <c:v>Paso a paso</c:v>
                </c:pt>
                <c:pt idx="4">
                  <c:v>Juego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40</c:v>
                </c:pt>
                <c:pt idx="1">
                  <c:v>85</c:v>
                </c:pt>
                <c:pt idx="2">
                  <c:v>50</c:v>
                </c:pt>
                <c:pt idx="3">
                  <c:v>60</c:v>
                </c:pt>
                <c:pt idx="4">
                  <c:v>55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6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9667FA-C357-4B05-B264-5E13E055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647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900" b="1">
                <a:solidFill>
                  <a:srgbClr val="28743A"/>
                </a:solidFill>
                <a:latin typeface="Arial"/>
                <a:ea typeface="Arial"/>
                <a:cs typeface="Arial"/>
              </a:defRPr>
            </a:defPPr>
            <a:lvl1pPr>
              <a:defRPr sz="6900" b="1">
                <a:solidFill>
                  <a:srgbClr val="28743A"/>
                </a:solidFill>
                <a:latin typeface="Arial"/>
                <a:ea typeface="Arial"/>
                <a:cs typeface="Arial"/>
              </a:defRPr>
            </a:lvl1pPr>
            <a:lvl2pPr>
              <a:defRPr sz="6900" b="1">
                <a:solidFill>
                  <a:srgbClr val="28743A"/>
                </a:solidFill>
                <a:latin typeface="Arial"/>
                <a:ea typeface="Arial"/>
                <a:cs typeface="Arial"/>
              </a:defRPr>
            </a:lvl2pPr>
            <a:lvl3pPr>
              <a:defRPr sz="6900" b="1">
                <a:solidFill>
                  <a:srgbClr val="28743A"/>
                </a:solidFill>
                <a:latin typeface="Arial"/>
                <a:ea typeface="Arial"/>
                <a:cs typeface="Arial"/>
              </a:defRPr>
            </a:lvl3pPr>
            <a:lvl4pPr>
              <a:defRPr sz="6900" b="1">
                <a:solidFill>
                  <a:srgbClr val="28743A"/>
                </a:solidFill>
                <a:latin typeface="Arial"/>
                <a:ea typeface="Arial"/>
                <a:cs typeface="Arial"/>
              </a:defRPr>
            </a:lvl4pPr>
            <a:lvl5pPr>
              <a:defRPr sz="6900" b="1">
                <a:solidFill>
                  <a:srgbClr val="28743A"/>
                </a:solidFill>
                <a:latin typeface="Arial"/>
                <a:ea typeface="Arial"/>
                <a:cs typeface="Arial"/>
              </a:defRPr>
            </a:lvl5pPr>
            <a:lvl6pPr>
              <a:defRPr sz="6900" b="1">
                <a:solidFill>
                  <a:srgbClr val="28743A"/>
                </a:solidFill>
                <a:latin typeface="Arial"/>
                <a:ea typeface="Arial"/>
                <a:cs typeface="Arial"/>
              </a:defRPr>
            </a:lvl6pPr>
            <a:lvl7pPr>
              <a:defRPr sz="6900" b="1">
                <a:solidFill>
                  <a:srgbClr val="28743A"/>
                </a:solidFill>
                <a:latin typeface="Arial"/>
                <a:ea typeface="Arial"/>
                <a:cs typeface="Arial"/>
              </a:defRPr>
            </a:lvl7pPr>
            <a:lvl8pPr>
              <a:defRPr sz="6900" b="1">
                <a:solidFill>
                  <a:srgbClr val="28743A"/>
                </a:solidFill>
                <a:latin typeface="Arial"/>
                <a:ea typeface="Arial"/>
                <a:cs typeface="Arial"/>
              </a:defRPr>
            </a:lvl8pPr>
            <a:lvl9pPr>
              <a:defRPr sz="6900" b="1">
                <a:solidFill>
                  <a:srgbClr val="287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900" b="1">
                <a:solidFill>
                  <a:srgbClr val="28743A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28743A"/>
                </a:solidFill>
                <a:latin typeface="Arial"/>
                <a:ea typeface="Arial"/>
                <a:cs typeface="Arial"/>
              </a:rPr>
              <a:t>Chispa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6B47C6-B3E9-4BA8-B77F-E1A77CE6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14625"/>
            <a:ext cx="590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F2A44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F2A44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F2A44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F2A44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F2A44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F2A44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F2A44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F2A44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F2A44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F2A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F2A4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F2A44"/>
                </a:solidFill>
                <a:latin typeface="Arial"/>
                <a:ea typeface="Arial"/>
                <a:cs typeface="Arial"/>
              </a:rPr>
              <a:t>Aprender empieza con una pregunta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F3AA99-74D9-402E-BCBF-B228FA70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76750"/>
            <a:ext cx="590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435447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435447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435447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435447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435447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435447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435447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435447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435447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4354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4354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35447"/>
                </a:solidFill>
                <a:latin typeface="Arial"/>
                <a:ea typeface="Arial"/>
                <a:cs typeface="Arial"/>
              </a:rPr>
              <a:t>Lulo acompaña a niñas y niños con clases cortas, voz y preguntas.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402CE2-3879-4A7A-A9FD-0A9C8783EE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305d86f89b4d06"/>
          <a:stretch xmlns:a="http://schemas.openxmlformats.org/drawingml/2006/main"/>
        </p:blipFill>
        <p:spPr>
          <a:xfrm xmlns:a="http://schemas.openxmlformats.org/drawingml/2006/main">
            <a:off x="7620000" y="1179504"/>
            <a:ext cx="3524250" cy="440374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32CFF6-900B-422F-B734-735B8FFD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341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735A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0735A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0735A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0735A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0735A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0735A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0735A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0735A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0735A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073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35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35A"/>
                </a:solidFill>
                <a:latin typeface="Arial"/>
                <a:ea typeface="Arial"/>
                <a:cs typeface="Arial"/>
              </a:rPr>
              <a:t>1 / 5</a:t>
            </a:r>
          </a:p>
        </p:txBody>
      </p:sp>
    </p:spTree>
    <p:extLst>
      <p:ext uri="{BB962C8B-B14F-4D97-AF65-F5344CB8AC3E}">
        <p14:creationId xmlns:p14="http://schemas.microsoft.com/office/powerpoint/2010/main" val="15198728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6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045D46-CACB-4F40-B65C-CFF574D2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572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1F2A44"/>
                </a:solidFill>
                <a:latin typeface="Arial"/>
                <a:ea typeface="Arial"/>
                <a:cs typeface="Arial"/>
              </a:defRPr>
            </a:defPPr>
            <a:lvl1pPr>
              <a:defRPr sz="4350" b="1">
                <a:solidFill>
                  <a:srgbClr val="1F2A44"/>
                </a:solidFill>
                <a:latin typeface="Arial"/>
                <a:ea typeface="Arial"/>
                <a:cs typeface="Arial"/>
              </a:defRPr>
            </a:lvl1pPr>
            <a:lvl2pPr>
              <a:defRPr sz="4350" b="1">
                <a:solidFill>
                  <a:srgbClr val="1F2A44"/>
                </a:solidFill>
                <a:latin typeface="Arial"/>
                <a:ea typeface="Arial"/>
                <a:cs typeface="Arial"/>
              </a:defRPr>
            </a:lvl2pPr>
            <a:lvl3pPr>
              <a:defRPr sz="4350" b="1">
                <a:solidFill>
                  <a:srgbClr val="1F2A44"/>
                </a:solidFill>
                <a:latin typeface="Arial"/>
                <a:ea typeface="Arial"/>
                <a:cs typeface="Arial"/>
              </a:defRPr>
            </a:lvl3pPr>
            <a:lvl4pPr>
              <a:defRPr sz="4350" b="1">
                <a:solidFill>
                  <a:srgbClr val="1F2A44"/>
                </a:solidFill>
                <a:latin typeface="Arial"/>
                <a:ea typeface="Arial"/>
                <a:cs typeface="Arial"/>
              </a:defRPr>
            </a:lvl4pPr>
            <a:lvl5pPr>
              <a:defRPr sz="4350" b="1">
                <a:solidFill>
                  <a:srgbClr val="1F2A44"/>
                </a:solidFill>
                <a:latin typeface="Arial"/>
                <a:ea typeface="Arial"/>
                <a:cs typeface="Arial"/>
              </a:defRPr>
            </a:lvl5pPr>
            <a:lvl6pPr>
              <a:defRPr sz="4350" b="1">
                <a:solidFill>
                  <a:srgbClr val="1F2A44"/>
                </a:solidFill>
                <a:latin typeface="Arial"/>
                <a:ea typeface="Arial"/>
                <a:cs typeface="Arial"/>
              </a:defRPr>
            </a:lvl6pPr>
            <a:lvl7pPr>
              <a:defRPr sz="4350" b="1">
                <a:solidFill>
                  <a:srgbClr val="1F2A44"/>
                </a:solidFill>
                <a:latin typeface="Arial"/>
                <a:ea typeface="Arial"/>
                <a:cs typeface="Arial"/>
              </a:defRPr>
            </a:lvl7pPr>
            <a:lvl8pPr>
              <a:defRPr sz="4350" b="1">
                <a:solidFill>
                  <a:srgbClr val="1F2A44"/>
                </a:solidFill>
                <a:latin typeface="Arial"/>
                <a:ea typeface="Arial"/>
                <a:cs typeface="Arial"/>
              </a:defRPr>
            </a:lvl8pPr>
            <a:lvl9pPr>
              <a:defRPr sz="4350" b="1">
                <a:solidFill>
                  <a:srgbClr val="1F2A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1F2A44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F2A44"/>
                </a:solidFill>
                <a:latin typeface="Arial"/>
                <a:ea typeface="Arial"/>
                <a:cs typeface="Arial"/>
              </a:rPr>
              <a:t>Un mismo tema, dos explicaciones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A45672-CCD2-4536-BD89-EBD15362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14625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8743A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28743A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28743A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28743A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28743A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28743A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28743A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28743A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28743A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287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874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743A"/>
                </a:solidFill>
                <a:latin typeface="Arial"/>
                <a:ea typeface="Arial"/>
                <a:cs typeface="Arial"/>
              </a:rPr>
              <a:t>Sofía y Mateo exploran dinosaurios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9494FA-A405-4497-93B3-18AF5494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91000"/>
            <a:ext cx="990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435447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435447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435447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435447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435447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435447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435447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435447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435447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4354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43544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435447"/>
                </a:solidFill>
                <a:latin typeface="Arial"/>
                <a:ea typeface="Arial"/>
                <a:cs typeface="Arial"/>
              </a:rPr>
              <a:t>La demo compara historias y explicaciones visuales. Los perfiles son ficticios y sus señales no son diagnósticos.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5E13CA-6DAA-4010-8E18-6FB6A198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341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735A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0735A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0735A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0735A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0735A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0735A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0735A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0735A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0735A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073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35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35A"/>
                </a:solidFill>
                <a:latin typeface="Arial"/>
                <a:ea typeface="Arial"/>
                <a:cs typeface="Arial"/>
              </a:rPr>
              <a:t>2 / 5</a:t>
            </a:r>
          </a:p>
        </p:txBody>
      </p:sp>
    </p:spTree>
    <p:extLst>
      <p:ext uri="{BB962C8B-B14F-4D97-AF65-F5344CB8AC3E}">
        <p14:creationId xmlns:p14="http://schemas.microsoft.com/office/powerpoint/2010/main" val="19014599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6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625818-9671-4A2B-AA0E-17A37D48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572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1F2A44"/>
                </a:solidFill>
                <a:latin typeface="Arial"/>
                <a:ea typeface="Arial"/>
                <a:cs typeface="Arial"/>
              </a:defRPr>
            </a:defPPr>
            <a:lvl1pPr>
              <a:defRPr sz="4350" b="1">
                <a:solidFill>
                  <a:srgbClr val="1F2A44"/>
                </a:solidFill>
                <a:latin typeface="Arial"/>
                <a:ea typeface="Arial"/>
                <a:cs typeface="Arial"/>
              </a:defRPr>
            </a:lvl1pPr>
            <a:lvl2pPr>
              <a:defRPr sz="4350" b="1">
                <a:solidFill>
                  <a:srgbClr val="1F2A44"/>
                </a:solidFill>
                <a:latin typeface="Arial"/>
                <a:ea typeface="Arial"/>
                <a:cs typeface="Arial"/>
              </a:defRPr>
            </a:lvl2pPr>
            <a:lvl3pPr>
              <a:defRPr sz="4350" b="1">
                <a:solidFill>
                  <a:srgbClr val="1F2A44"/>
                </a:solidFill>
                <a:latin typeface="Arial"/>
                <a:ea typeface="Arial"/>
                <a:cs typeface="Arial"/>
              </a:defRPr>
            </a:lvl3pPr>
            <a:lvl4pPr>
              <a:defRPr sz="4350" b="1">
                <a:solidFill>
                  <a:srgbClr val="1F2A44"/>
                </a:solidFill>
                <a:latin typeface="Arial"/>
                <a:ea typeface="Arial"/>
                <a:cs typeface="Arial"/>
              </a:defRPr>
            </a:lvl4pPr>
            <a:lvl5pPr>
              <a:defRPr sz="4350" b="1">
                <a:solidFill>
                  <a:srgbClr val="1F2A44"/>
                </a:solidFill>
                <a:latin typeface="Arial"/>
                <a:ea typeface="Arial"/>
                <a:cs typeface="Arial"/>
              </a:defRPr>
            </a:lvl5pPr>
            <a:lvl6pPr>
              <a:defRPr sz="4350" b="1">
                <a:solidFill>
                  <a:srgbClr val="1F2A44"/>
                </a:solidFill>
                <a:latin typeface="Arial"/>
                <a:ea typeface="Arial"/>
                <a:cs typeface="Arial"/>
              </a:defRPr>
            </a:lvl6pPr>
            <a:lvl7pPr>
              <a:defRPr sz="4350" b="1">
                <a:solidFill>
                  <a:srgbClr val="1F2A44"/>
                </a:solidFill>
                <a:latin typeface="Arial"/>
                <a:ea typeface="Arial"/>
                <a:cs typeface="Arial"/>
              </a:defRPr>
            </a:lvl7pPr>
            <a:lvl8pPr>
              <a:defRPr sz="4350" b="1">
                <a:solidFill>
                  <a:srgbClr val="1F2A44"/>
                </a:solidFill>
                <a:latin typeface="Arial"/>
                <a:ea typeface="Arial"/>
                <a:cs typeface="Arial"/>
              </a:defRPr>
            </a:lvl8pPr>
            <a:lvl9pPr>
              <a:defRPr sz="4350" b="1">
                <a:solidFill>
                  <a:srgbClr val="1F2A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1F2A44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F2A44"/>
                </a:solidFill>
                <a:latin typeface="Arial"/>
                <a:ea typeface="Arial"/>
                <a:cs typeface="Arial"/>
              </a:rPr>
              <a:t>Una conversación con Lulo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67961D-5BBE-4A2C-9E2B-3076503A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14625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8743A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28743A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28743A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28743A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28743A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28743A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28743A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28743A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28743A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287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874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743A"/>
                </a:solidFill>
                <a:latin typeface="Arial"/>
                <a:ea typeface="Arial"/>
                <a:cs typeface="Arial"/>
              </a:rPr>
              <a:t>Leer, escuchar y preguntar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C49458-AE83-4A83-B841-BB0CAEBC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91000"/>
            <a:ext cx="990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435447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435447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435447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435447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435447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435447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435447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435447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435447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4354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43544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435447"/>
                </a:solidFill>
                <a:latin typeface="Arial"/>
                <a:ea typeface="Arial"/>
                <a:cs typeface="Arial"/>
              </a:rPr>
              <a:t>El chat puede responder, comenzar otra clase o proponer las preguntas. Las clases guardadas se repiten sin regenerarlas.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0353A9-93E3-4E01-BCCF-E6871E24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341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735A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0735A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0735A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0735A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0735A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0735A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0735A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0735A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0735A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073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35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35A"/>
                </a:solidFill>
                <a:latin typeface="Arial"/>
                <a:ea typeface="Arial"/>
                <a:cs typeface="Arial"/>
              </a:rPr>
              <a:t>3 / 5</a:t>
            </a:r>
          </a:p>
        </p:txBody>
      </p:sp>
    </p:spTree>
    <p:extLst>
      <p:ext uri="{BB962C8B-B14F-4D97-AF65-F5344CB8AC3E}">
        <p14:creationId xmlns:p14="http://schemas.microsoft.com/office/powerpoint/2010/main" val="8511178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6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19CB38-6460-425C-B564-066073C9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F2A44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F2A44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F2A44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F2A44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F2A44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F2A44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F2A44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F2A44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F2A44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F2A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F2A4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F2A44"/>
                </a:solidFill>
                <a:latin typeface="Arial"/>
                <a:ea typeface="Arial"/>
                <a:cs typeface="Arial"/>
              </a:rPr>
              <a:t>Las señales guían la próxima clase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F42EB3-7773-405D-BCBA-F658A1E4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28743A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28743A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28743A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28743A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28743A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28743A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28743A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28743A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28743A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287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874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8743A"/>
                </a:solidFill>
                <a:latin typeface="Arial"/>
                <a:ea typeface="Arial"/>
                <a:cs typeface="Arial"/>
              </a:rPr>
              <a:t>Motor adaptativo y nota para acompañantes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7FFA70-F5EE-418F-B4B5-D728F450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00"/>
            <a:ext cx="3810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435447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435447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435447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435447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435447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435447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435447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435447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435447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4354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43544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35447"/>
                </a:solidFill>
                <a:latin typeface="Arial"/>
                <a:ea typeface="Arial"/>
                <a:cs typeface="Arial"/>
              </a:rPr>
              <a:t>El motor registra aciertos, ayudas y tiempos. Gemma prepara la nota de la sesión.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17315BE5-369D-47A2-86AB-A57808355988}"/>
              </a:ext>
            </a:extLst>
          </p:cNvPr>
          <p:cNvGraphicFramePr/>
          <p:nvPr/>
        </p:nvGraphicFramePr>
        <p:xfrm>
          <a:off xmlns:a="http://schemas.openxmlformats.org/drawingml/2006/main" x="4953000" y="1905000"/>
          <a:ext xmlns:a="http://schemas.openxmlformats.org/drawingml/2006/main" cx="6191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d4e0151e94742b9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25A805-772C-4450-A2DD-7CF2A50D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762625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735A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0735A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0735A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0735A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0735A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0735A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0735A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0735A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0735A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073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35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35A"/>
                </a:solidFill>
                <a:latin typeface="Arial"/>
                <a:ea typeface="Arial"/>
                <a:cs typeface="Arial"/>
              </a:rPr>
              <a:t>Señales demo por estilo. Escala de 0 a 100.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09E0DC-7063-4B08-B38F-B9DAF1D2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341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735A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0735A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0735A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0735A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0735A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0735A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0735A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0735A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0735A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073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35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35A"/>
                </a:solidFill>
                <a:latin typeface="Arial"/>
                <a:ea typeface="Arial"/>
                <a:cs typeface="Arial"/>
              </a:rPr>
              <a:t>4 / 5</a:t>
            </a:r>
          </a:p>
        </p:txBody>
      </p:sp>
    </p:spTree>
    <p:extLst>
      <p:ext uri="{BB962C8B-B14F-4D97-AF65-F5344CB8AC3E}">
        <p14:creationId xmlns:p14="http://schemas.microsoft.com/office/powerpoint/2010/main" val="4156220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6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9E27F-3F42-4918-9FCD-86930378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572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1F2A44"/>
                </a:solidFill>
                <a:latin typeface="Arial"/>
                <a:ea typeface="Arial"/>
                <a:cs typeface="Arial"/>
              </a:defRPr>
            </a:defPPr>
            <a:lvl1pPr>
              <a:defRPr sz="4350" b="1">
                <a:solidFill>
                  <a:srgbClr val="1F2A44"/>
                </a:solidFill>
                <a:latin typeface="Arial"/>
                <a:ea typeface="Arial"/>
                <a:cs typeface="Arial"/>
              </a:defRPr>
            </a:lvl1pPr>
            <a:lvl2pPr>
              <a:defRPr sz="4350" b="1">
                <a:solidFill>
                  <a:srgbClr val="1F2A44"/>
                </a:solidFill>
                <a:latin typeface="Arial"/>
                <a:ea typeface="Arial"/>
                <a:cs typeface="Arial"/>
              </a:defRPr>
            </a:lvl2pPr>
            <a:lvl3pPr>
              <a:defRPr sz="4350" b="1">
                <a:solidFill>
                  <a:srgbClr val="1F2A44"/>
                </a:solidFill>
                <a:latin typeface="Arial"/>
                <a:ea typeface="Arial"/>
                <a:cs typeface="Arial"/>
              </a:defRPr>
            </a:lvl3pPr>
            <a:lvl4pPr>
              <a:defRPr sz="4350" b="1">
                <a:solidFill>
                  <a:srgbClr val="1F2A44"/>
                </a:solidFill>
                <a:latin typeface="Arial"/>
                <a:ea typeface="Arial"/>
                <a:cs typeface="Arial"/>
              </a:defRPr>
            </a:lvl4pPr>
            <a:lvl5pPr>
              <a:defRPr sz="4350" b="1">
                <a:solidFill>
                  <a:srgbClr val="1F2A44"/>
                </a:solidFill>
                <a:latin typeface="Arial"/>
                <a:ea typeface="Arial"/>
                <a:cs typeface="Arial"/>
              </a:defRPr>
            </a:lvl5pPr>
            <a:lvl6pPr>
              <a:defRPr sz="4350" b="1">
                <a:solidFill>
                  <a:srgbClr val="1F2A44"/>
                </a:solidFill>
                <a:latin typeface="Arial"/>
                <a:ea typeface="Arial"/>
                <a:cs typeface="Arial"/>
              </a:defRPr>
            </a:lvl6pPr>
            <a:lvl7pPr>
              <a:defRPr sz="4350" b="1">
                <a:solidFill>
                  <a:srgbClr val="1F2A44"/>
                </a:solidFill>
                <a:latin typeface="Arial"/>
                <a:ea typeface="Arial"/>
                <a:cs typeface="Arial"/>
              </a:defRPr>
            </a:lvl7pPr>
            <a:lvl8pPr>
              <a:defRPr sz="4350" b="1">
                <a:solidFill>
                  <a:srgbClr val="1F2A44"/>
                </a:solidFill>
                <a:latin typeface="Arial"/>
                <a:ea typeface="Arial"/>
                <a:cs typeface="Arial"/>
              </a:defRPr>
            </a:lvl8pPr>
            <a:lvl9pPr>
              <a:defRPr sz="4350" b="1">
                <a:solidFill>
                  <a:srgbClr val="1F2A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1F2A44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F2A44"/>
                </a:solidFill>
                <a:latin typeface="Arial"/>
                <a:ea typeface="Arial"/>
                <a:cs typeface="Arial"/>
              </a:rPr>
              <a:t>Gemma y una experiencia que acompaña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EB6A07-E078-4434-A9BD-F20026A6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14625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8743A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28743A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28743A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28743A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28743A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28743A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28743A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28743A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28743A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287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874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743A"/>
                </a:solidFill>
                <a:latin typeface="Arial"/>
                <a:ea typeface="Arial"/>
                <a:cs typeface="Arial"/>
              </a:rPr>
              <a:t>Un prototipo con identidad del Caribe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7CF449-088B-4BEB-8602-D39B9CDE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91000"/>
            <a:ext cx="990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435447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435447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435447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435447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435447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435447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435447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435447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435447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4354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43544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435447"/>
                </a:solidFill>
                <a:latin typeface="Arial"/>
                <a:ea typeface="Arial"/>
                <a:cs typeface="Arial"/>
              </a:rPr>
              <a:t>Gemma explica y conversa. Chispa evalúa el recorrido y conserva el progreso.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EA7862-3AA2-4966-9AF5-7FAE12AF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341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735A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0735A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0735A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0735A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0735A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0735A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0735A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0735A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0735A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073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35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35A"/>
                </a:solidFill>
                <a:latin typeface="Arial"/>
                <a:ea typeface="Arial"/>
                <a:cs typeface="Arial"/>
              </a:rPr>
              <a:t>5 / 5</a:t>
            </a:r>
          </a:p>
        </p:txBody>
      </p:sp>
    </p:spTree>
    <p:extLst>
      <p:ext uri="{BB962C8B-B14F-4D97-AF65-F5344CB8AC3E}">
        <p14:creationId xmlns:p14="http://schemas.microsoft.com/office/powerpoint/2010/main" val="9445535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2026-10-24T18:26:48.8140000Z</dcterms:created>
  <dcterms:modified xsi:type="dcterms:W3CDTF">2026-10-24T18:26:48.8140000Z</dcterms:modified>
</coreProperties>
</file>